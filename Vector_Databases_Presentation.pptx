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Vector Databases and Embeddings Demystified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/>
              <a:t>Building AI-Powered Search in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Mystery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How does Netflix know you'll love that obscure documentary?</a:t>
            </a:r>
          </a:p>
          <a:p>
            <a:pPr/>
            <a:r>
              <a:t>How does Google Photos find every picture of your dog?</a:t>
            </a:r>
          </a:p>
          <a:p>
            <a:pPr/>
            <a:r>
              <a:t>How does ChatGPT answer questions about your documents?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Secret Sauce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Vector Embeddings + Similarity Search</a:t>
            </a:r>
          </a:p>
          <a:p/>
          <a:p>
            <a:r>
              <a:rPr sz="1800"/>
              <a:t>Text → Vector → Find Similar</a:t>
            </a:r>
          </a:p>
          <a:p/>
          <a:p>
            <a:r>
              <a:rPr sz="1800"/>
              <a:t>Transform data into numerical representations</a:t>
            </a:r>
          </a:p>
          <a:p>
            <a:r>
              <a:rPr sz="1800"/>
              <a:t>Measure distance between vectors</a:t>
            </a:r>
          </a:p>
          <a:p>
            <a:r>
              <a:rPr sz="1800"/>
              <a:t>Shift from 'exact match' to 'semantic understanding'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Vector?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 vector is just an ordered list of numbers</a:t>
            </a:r>
          </a:p>
          <a:p>
            <a:pPr/>
            <a:r>
              <a:t>Physical world: GPS coordinates [lat, long], RGB colors [r, g, b]</a:t>
            </a:r>
          </a:p>
          <a:p>
            <a:pPr/>
            <a:r>
              <a:t>AI world: Words as vectors - 'dog' → [0.8, 0.3, 0.1]</a:t>
            </a:r>
          </a:p>
          <a:p>
            <a:pPr/>
            <a:r>
              <a:t>Related concepts have similar numbers: 'dog' and 'puppy' are close</a:t>
            </a:r>
          </a:p>
          <a:p>
            <a:pPr/>
            <a:r>
              <a:t>Key insight: Turn things into numbers, measure similarity with math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High-Dimensional 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1D: One concept (e.g., sentiment: sad ←→ happy)</a:t>
            </a:r>
          </a:p>
          <a:p>
            <a:pPr/>
            <a:r>
              <a:t>2D: Two concepts (e.g., animal type + sentiment)</a:t>
            </a:r>
          </a:p>
          <a:p>
            <a:pPr/>
            <a:r>
              <a:t>3D: Three concepts (what we can visualize)</a:t>
            </a:r>
          </a:p>
          <a:p>
            <a:pPr/>
            <a:r>
              <a:t>1,536D: Capturing rich nuance of language</a:t>
            </a:r>
          </a:p>
          <a:p>
            <a:pPr/>
            <a:r>
              <a:t>Example: 'bank' - financial? river edge? verb? formal? historical?</a:t>
            </a:r>
          </a:p>
          <a:p>
            <a:pPr/>
            <a:r>
              <a:t>OpenAI text-embedding-3-small uses 1,536 dimensions</a:t>
            </a:r>
          </a:p>
          <a:p>
            <a:pPr/>
            <a:r>
              <a:t>Same math, just more dimensions - computer measures perfectly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Measuring Similarity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Three Main Similarity Metrics:</a:t>
            </a:r>
          </a:p>
          <a:p/>
          <a:p>
            <a:r>
              <a:rPr sz="1600"/>
              <a:t>1. Cosine Similarity - Measures angle between vectors</a:t>
            </a:r>
          </a:p>
          <a:p>
            <a:r>
              <a:rPr sz="1600"/>
              <a:t>   • Range: -1 to 1 (1 = identical)</a:t>
            </a:r>
          </a:p>
          <a:p>
            <a:r>
              <a:rPr sz="1600"/>
              <a:t>   • Best for: Text embeddings (default choice)</a:t>
            </a:r>
          </a:p>
          <a:p/>
          <a:p>
            <a:r>
              <a:rPr sz="1600"/>
              <a:t>2. Euclidean Distance - Straight-line distance</a:t>
            </a:r>
          </a:p>
          <a:p>
            <a:r>
              <a:rPr sz="1600"/>
              <a:t>   • Range: 0 to ∞ (0 = identical)</a:t>
            </a:r>
          </a:p>
          <a:p>
            <a:r>
              <a:rPr sz="1600"/>
              <a:t>   • Best for: When magnitude matters</a:t>
            </a:r>
          </a:p>
          <a:p/>
          <a:p>
            <a:r>
              <a:rPr sz="1600"/>
              <a:t>3. Dot Product - Angle + magnitude</a:t>
            </a:r>
          </a:p>
          <a:p>
            <a:r>
              <a:rPr sz="1600"/>
              <a:t>   • Range: -∞ to ∞ (higher = more similar)</a:t>
            </a:r>
          </a:p>
          <a:p>
            <a:r>
              <a:rPr sz="1600"/>
              <a:t>   • Best for: Speed-critical, normalized vectors</a:t>
            </a:r>
          </a:p>
          <a:p/>
          <a:p>
            <a:r>
              <a:rPr sz="1600"/>
              <a:t>Pro tip: OpenAI embeddings are pre-normalized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king - man + woman = queen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Word Arithmetic That Actually Works!</a:t>
            </a:r>
          </a:p>
          <a:p/>
          <a:p>
            <a:r>
              <a:rPr sz="1400"/>
              <a:t>Results:</a:t>
            </a:r>
          </a:p>
          <a:p>
            <a:r>
              <a:rPr sz="1400"/>
              <a:t>  queen: 0.8932    ← Closest!</a:t>
            </a:r>
          </a:p>
          <a:p>
            <a:r>
              <a:rPr sz="1400"/>
              <a:t>  monarch: 0.8654</a:t>
            </a:r>
          </a:p>
          <a:p>
            <a:r>
              <a:rPr sz="1400"/>
              <a:t>  princess: 0.8543</a:t>
            </a:r>
          </a:p>
          <a:p>
            <a:r>
              <a:rPr sz="1400"/>
              <a:t>  royal: 0.8234</a:t>
            </a:r>
          </a:p>
          <a:p/>
          <a:p>
            <a:r>
              <a:rPr sz="1400"/>
              <a:t>What's happening:</a:t>
            </a:r>
          </a:p>
          <a:p>
            <a:r>
              <a:rPr sz="1400"/>
              <a:t>  king = [royalty] + [male] + [leadership]</a:t>
            </a:r>
          </a:p>
          <a:p>
            <a:r>
              <a:rPr sz="1400"/>
              <a:t>  - man = [male] + [adult]</a:t>
            </a:r>
          </a:p>
          <a:p>
            <a:r>
              <a:rPr sz="1400"/>
              <a:t>  + woman = [female] + [adult]</a:t>
            </a:r>
          </a:p>
          <a:p>
            <a:r>
              <a:rPr sz="1400"/>
              <a:t>  = [royalty] + [leadership] + [female] = queen</a:t>
            </a:r>
          </a:p>
          <a:p/>
          <a:p>
            <a:r>
              <a:rPr sz="1400"/>
              <a:t>This isn't magic - it's geometry!</a:t>
            </a:r>
          </a:p>
          <a:p>
            <a:r>
              <a:rPr sz="1400"/>
              <a:t>The embedding model learned relationships from context.</a:t>
            </a:r>
          </a:p>
          <a:p/>
          <a:p>
            <a:r>
              <a:rPr sz="1400"/>
              <a:t>Other examples: paris - france + germany ≈ berlin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2: Vector Databases &amp;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The Challenge: 1 billion vectors × 1536 dimensions</a:t>
            </a:r>
          </a:p>
          <a:p>
            <a:pPr/>
            <a:r>
              <a:t>Naive approach: 25 minutes per query (unacceptable!)</a:t>
            </a:r>
          </a:p>
          <a:p>
            <a:pPr/>
            <a:r>
              <a:t>Vector databases solve this with specialized algorithms</a:t>
            </a:r>
          </a:p>
          <a:p>
            <a:pPr/>
            <a:r>
              <a:t>Goal: Millisecond queries on billions of vectors</a:t>
            </a:r>
          </a:p>
          <a:p>
            <a:pPr/>
            <a:r>
              <a:t>Coming up: HNSW, IVF, Product Quantization</a:t>
            </a:r>
          </a:p>
          <a:p>
            <a:pPr/>
            <a:r>
              <a:t>Trade-off: 99% accuracy for 1000× speed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HNSW - Hierarchical Navigable Small Worlds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Highway System for Vectors</a:t>
            </a:r>
          </a:p>
          <a:p/>
          <a:p>
            <a:r>
              <a:rPr sz="1400"/>
              <a:t>Multi-layer graph structure:</a:t>
            </a:r>
          </a:p>
          <a:p>
            <a:r>
              <a:rPr sz="1400"/>
              <a:t>  Layer 3 (Top): Highways - long jumps, fast navigation</a:t>
            </a:r>
          </a:p>
          <a:p>
            <a:r>
              <a:rPr sz="1400"/>
              <a:t>  Layer 2: State roads - medium distance</a:t>
            </a:r>
          </a:p>
          <a:p>
            <a:r>
              <a:rPr sz="1400"/>
              <a:t>  Layer 1: Local streets - fine-grained</a:t>
            </a:r>
          </a:p>
          <a:p>
            <a:r>
              <a:rPr sz="1400"/>
              <a:t>  Layer 0 (Bottom): All vectors - precise results</a:t>
            </a:r>
          </a:p>
          <a:p/>
          <a:p>
            <a:r>
              <a:rPr sz="1400"/>
              <a:t>Performance:</a:t>
            </a:r>
          </a:p>
          <a:p>
            <a:r>
              <a:rPr sz="1400"/>
              <a:t>  • Search Time: O(log n) - only ~30-40 nodes visited</a:t>
            </a:r>
          </a:p>
          <a:p>
            <a:r>
              <a:rPr sz="1400"/>
              <a:t>  • Memory: High (2-5× vector size)</a:t>
            </a:r>
          </a:p>
          <a:p>
            <a:r>
              <a:rPr sz="1400"/>
              <a:t>  • Accuracy: 95-99% recall</a:t>
            </a:r>
          </a:p>
          <a:p>
            <a:r>
              <a:rPr sz="1400"/>
              <a:t>  • Used by: Chroma, Weaviate, Qdrant, Elasticsearch</a:t>
            </a:r>
          </a:p>
          <a:p/>
          <a:p>
            <a:r>
              <a:rPr sz="1400"/>
              <a:t>✅ Best for: High accuracy, read-heavy, sufficient RAM</a:t>
            </a:r>
          </a:p>
          <a:p>
            <a:r>
              <a:rPr sz="1400"/>
              <a:t>❌ Avoid: Tight memory, frequent updates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IVF &amp; Product Quantization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Two Complementary Techniques</a:t>
            </a:r>
          </a:p>
          <a:p/>
          <a:p>
            <a:r>
              <a:rPr sz="1400"/>
              <a:t>IVF (Inverted File Index) - Clustering</a:t>
            </a:r>
          </a:p>
          <a:p>
            <a:r>
              <a:rPr sz="1400"/>
              <a:t>  • Cluster vectors into groups (like library sections)</a:t>
            </a:r>
          </a:p>
          <a:p>
            <a:r>
              <a:rPr sz="1400"/>
              <a:t>  • Search only relevant clusters</a:t>
            </a:r>
          </a:p>
          <a:p>
            <a:r>
              <a:rPr sz="1400"/>
              <a:t>  • 1B vectors, 10K clusters = search ~100K (99.99% reduction)</a:t>
            </a:r>
          </a:p>
          <a:p>
            <a:r>
              <a:rPr sz="1400"/>
              <a:t>  • Accuracy: 90-95% recall</a:t>
            </a:r>
          </a:p>
          <a:p/>
          <a:p>
            <a:r>
              <a:rPr sz="1400"/>
              <a:t>Product Quantization (PQ) - Compression</a:t>
            </a:r>
          </a:p>
          <a:p>
            <a:r>
              <a:rPr sz="1400"/>
              <a:t>  • Split vector into chunks, quantize each</a:t>
            </a:r>
          </a:p>
          <a:p>
            <a:r>
              <a:rPr sz="1400"/>
              <a:t>  • 1536 floats × 4 bytes = 6,144 bytes</a:t>
            </a:r>
          </a:p>
          <a:p>
            <a:r>
              <a:rPr sz="1400"/>
              <a:t>  • PQ: 8 bytes (768× compression!)</a:t>
            </a:r>
          </a:p>
          <a:p>
            <a:r>
              <a:rPr sz="1400"/>
              <a:t>  • Accuracy: 85-95% recall</a:t>
            </a:r>
          </a:p>
          <a:p/>
          <a:p>
            <a:r>
              <a:rPr sz="1400"/>
              <a:t>IVF + PQ Combined = Production Standard</a:t>
            </a:r>
          </a:p>
          <a:p>
            <a:r>
              <a:rPr sz="1400"/>
              <a:t>  • Used by: Faiss, Milvus, Pinecone</a:t>
            </a:r>
          </a:p>
          <a:p>
            <a:r>
              <a:rPr sz="1400"/>
              <a:t>  • Billions of vectors, millisecond queries, reasonable memory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Choosing the Right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Algorithm Comparison</a:t>
            </a:r>
          </a:p>
          <a:p/>
          <a:p>
            <a:r>
              <a:rPr sz="1400"/>
              <a:t>| Algorithm | Speed    | Memory | Accuracy | Best Scale |</a:t>
            </a:r>
          </a:p>
          <a:p>
            <a:r>
              <a:rPr sz="1400"/>
              <a:t>|-----------|----------|--------|----------|------------|</a:t>
            </a:r>
          </a:p>
          <a:p>
            <a:r>
              <a:rPr sz="1400"/>
              <a:t>| HNSW      | O(log n) | High   | 95-99%   | &lt;100M      |</a:t>
            </a:r>
          </a:p>
          <a:p>
            <a:r>
              <a:rPr sz="1400"/>
              <a:t>| IVF       | O(n/c)   | Medium | 90-95%   | 10M-500M   |</a:t>
            </a:r>
          </a:p>
          <a:p>
            <a:r>
              <a:rPr sz="1400"/>
              <a:t>| PQ        | Fast     | Low    | 85-90%   | Any        |</a:t>
            </a:r>
          </a:p>
          <a:p>
            <a:r>
              <a:rPr sz="1400"/>
              <a:t>| IVF + PQ  | Fast     | Low    | 90-95%   | 100M+      |</a:t>
            </a:r>
          </a:p>
          <a:p/>
          <a:p>
            <a:r>
              <a:rPr sz="1400"/>
              <a:t>Decision Framework:</a:t>
            </a:r>
          </a:p>
          <a:p>
            <a:r>
              <a:rPr sz="1400"/>
              <a:t>  &lt; 1M vectors → HNSW (best accuracy)</a:t>
            </a:r>
          </a:p>
          <a:p>
            <a:r>
              <a:rPr sz="1400"/>
              <a:t>  1M-100M vectors → IVF or HNSW</a:t>
            </a:r>
          </a:p>
          <a:p>
            <a:r>
              <a:rPr sz="1400"/>
              <a:t>  100M+ vectors → IVF + PQ</a:t>
            </a:r>
          </a:p>
          <a:p>
            <a:r>
              <a:rPr sz="1400"/>
              <a:t>  Tight memory → PQ or IVF + PQ</a:t>
            </a:r>
          </a:p>
          <a:p/>
          <a:p>
            <a:r>
              <a:rPr sz="1400"/>
              <a:t>Key Takeaway: No single "best" - depends on constraints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